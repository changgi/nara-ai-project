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NARA-AI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기반 국가기록물 지능형 검색 / 분류 / 활용 체계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1828800" cy="45720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9184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행정안전부 / 국가기록원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GPU: NVIDIA B200 16~32장  |  기간: 2027~2028 (2개년)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"국민을 위한, 국민에 의한, 국민에게 혜택이 돌아가는"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프로젝트 개요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23444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290만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377440" y="123444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전자기록물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3657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14884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100만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377440" y="214884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비전자 페이지 (OCR)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3657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06324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47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377440" y="306324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도구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365760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977640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377440" y="397764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에이전트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1188720"/>
            <a:ext cx="3931920" cy="3383280"/>
          </a:xfrm>
          <a:prstGeom prst="roundRect">
            <a:avLst>
              <a:gd name="adj" fmla="val 4054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1371600"/>
            <a:ext cx="33832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비전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290만 전자기록물과 100만 페이지 비전자기록물에 AI를 적용하여: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자연어 검색으로 국민 접근성 혁신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기록물 전문가 업무 10배 효율화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비공개 기록물 체계적 공개 전환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100만 페이지 OCR 디지털화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6계층 시스템 아키텍처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E8EAF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0972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L6 사용자 인터페이스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114800" y="10972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국민 검색 / 전문가 도구 / 관리 대시보드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C5CAE9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LangGraph 오케스트레이터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0" y="17373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AI 에이전트 + HITL 4개 + 감사추적 10년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3774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9FA8D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MCP 서버 5개 (47 도구)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23774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+ iarna + nara + law + ramp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175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7986C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0175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데이터 계층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3017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2.6 벡터DB + Cloud Spanner 지식그래프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5C6BC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6576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AI 추론 (vLLM)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0" y="365760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EXAONE 3.5 SFT + Qwen3-VL OCR + BGE-M3 임베딩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42976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1A1A2E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2976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GPU 인프라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114800" y="4297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DGX B200 x16-32 / NVLink 5.0 / 에어갭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핵심 기능 및 성능 목표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검색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Recall@10 &gt;= 0.90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Dense+Sparse+Graph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하이브리드 RAG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109728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74904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기록물 분류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74904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F1 &gt;= 0.92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49040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BRM 업무기능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매핑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09728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8368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디지털화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CER &lt;= 3%/7%/10%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583680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3모델 앙상블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7종 문서 지원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01752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비밀해제 심사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3520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Precision &gt;= 0.95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6종 탐지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필수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66160" y="301752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749040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메타데이터 생성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749040" y="3520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ROUGE-1 &gt;= 0.85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49040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제목/요약/키워드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 자동 추출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3017520"/>
            <a:ext cx="25603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83680" y="3154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감사추적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83680" y="3520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10년 보존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583680" y="3931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기본법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투명성 준수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GPU 리소스 요청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3657600" cy="1828800"/>
          </a:xfrm>
          <a:prstGeom prst="roundRect">
            <a:avLst>
              <a:gd name="adj" fmla="val 7500"/>
            </a:avLst>
          </a:prstGeom>
          <a:solidFill>
            <a:srgbClr val="1A1A2E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4A6C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16~32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B200 GPU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09728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GPU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217920" y="1097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 LoRA SFT (15~30분)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앙상블 + RAG 서빙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87452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5F7FA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87452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GPU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217920" y="18745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 풀 SFT (3~6시간)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멀티모델 병렬 추론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651760"/>
            <a:ext cx="3931920" cy="685800"/>
          </a:xfrm>
          <a:prstGeom prst="roundRect">
            <a:avLst>
              <a:gd name="adj" fmla="val 10667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2651760"/>
            <a:ext cx="1188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GPU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7920" y="26517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파운데이션 모델 CPT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대규모 OCR 파이프라인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200400"/>
            <a:ext cx="7955280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918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자산 통합으로 12~18개월 개발 기간 절감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" y="3749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10개 프로젝트 (283K+ LOC, 482 API, 165 에이전트, 85 MCP 도구)를 MCP 프로토콜로 통합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법률 준수 (4대 프레임워크)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920240" cy="34747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097280"/>
            <a:ext cx="1920240" cy="822960"/>
          </a:xfrm>
          <a:prstGeom prst="roundRect">
            <a:avLst>
              <a:gd name="adj" fmla="val 11111"/>
            </a:avLst>
          </a:prstGeom>
          <a:solidFill>
            <a:srgbClr val="1A1A2E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1920240" cy="3657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기본법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2026.1 시행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1554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4개 게이트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감사추적 필수 필드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설명가능성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편향 방지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34640" y="1097280"/>
            <a:ext cx="1920240" cy="34747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34640" y="1097280"/>
            <a:ext cx="1920240" cy="822960"/>
          </a:xfrm>
          <a:prstGeom prst="roundRect">
            <a:avLst>
              <a:gd name="adj" fmla="val 11111"/>
            </a:avLst>
          </a:prstGeom>
          <a:solidFill>
            <a:srgbClr val="1A1A2E"/>
          </a:solidFill>
          <a:ln/>
        </p:spPr>
      </p:sp>
      <p:sp>
        <p:nvSpPr>
          <p:cNvPr id="11" name="Shape 9"/>
          <p:cNvSpPr/>
          <p:nvPr/>
        </p:nvSpPr>
        <p:spPr>
          <a:xfrm>
            <a:off x="2834640" y="1554480"/>
            <a:ext cx="1920240" cy="3657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2" name="Text 10"/>
          <p:cNvSpPr/>
          <p:nvPr/>
        </p:nvSpPr>
        <p:spPr>
          <a:xfrm>
            <a:off x="292608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ISMS-P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92608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2027.7 의무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017520" y="2103120"/>
            <a:ext cx="1554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RBAC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6종 탐지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4중 보안 스캔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+ AES-256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37760" y="1097280"/>
            <a:ext cx="1920240" cy="34747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937760" y="1097280"/>
            <a:ext cx="1920240" cy="822960"/>
          </a:xfrm>
          <a:prstGeom prst="roundRect">
            <a:avLst>
              <a:gd name="adj" fmla="val 11111"/>
            </a:avLst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4937760" y="1554480"/>
            <a:ext cx="1920240" cy="3657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N2SF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 중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120640" y="2103120"/>
            <a:ext cx="1554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에어갭 네트워크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망분리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주권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CSAP 인증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40880" y="1097280"/>
            <a:ext cx="1920240" cy="34747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040880" y="1097280"/>
            <a:ext cx="1920240" cy="822960"/>
          </a:xfrm>
          <a:prstGeom prst="roundRect">
            <a:avLst>
              <a:gd name="adj" fmla="val 11111"/>
            </a:avLst>
          </a:prstGeom>
          <a:solidFill>
            <a:srgbClr val="1A1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7040880" y="1554480"/>
            <a:ext cx="1920240" cy="3657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24" name="Text 22"/>
          <p:cNvSpPr/>
          <p:nvPr/>
        </p:nvSpPr>
        <p:spPr>
          <a:xfrm>
            <a:off x="713232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공공기록물법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32320" y="15544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적용 중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223760" y="2103120"/>
            <a:ext cx="1554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비밀해제 HITL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폐기 2인 승인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30년 공개 원칙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 10년 보존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국민 혜택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76809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09728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접근성 혁신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743200" y="1097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키워드 검색, 전문가만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212080" y="109728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669280" y="10972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검색, 누구나 (P99 &lt;= 2초)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57400"/>
            <a:ext cx="76809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05740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투명성 강화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743200" y="2057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수작업 비밀해제 심사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212080" y="205740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669280" y="20574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추천 + 인간 최종결정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017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효율성 향상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743200" y="3017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수작업 분류/메타데이터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301752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0" y="3017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자동화 (10배 효율화)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977640"/>
            <a:ext cx="7680960" cy="822960"/>
          </a:xfrm>
          <a:prstGeom prst="roundRect">
            <a:avLst>
              <a:gd name="adj" fmla="val 8889"/>
            </a:avLst>
          </a:prstGeom>
          <a:solidFill>
            <a:srgbClr val="16213E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9776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역사 보존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743200" y="39776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스캔 이미지만 열람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977640"/>
            <a:ext cx="457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669280" y="39776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100만 페이지 OCR 전문 검색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2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추진 타임라인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2286000"/>
            <a:ext cx="6858000" cy="73152"/>
          </a:xfrm>
          <a:prstGeom prst="rect">
            <a:avLst/>
          </a:prstGeom>
          <a:solidFill>
            <a:srgbClr val="4A6CF7"/>
          </a:solidFill>
          <a:ln/>
        </p:spPr>
      </p:sp>
      <p:sp>
        <p:nvSpPr>
          <p:cNvPr id="4" name="Shape 2"/>
          <p:cNvSpPr/>
          <p:nvPr/>
        </p:nvSpPr>
        <p:spPr>
          <a:xfrm>
            <a:off x="1874520" y="2103120"/>
            <a:ext cx="365760" cy="36576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H1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 MVP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분류+검색+OCR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 동작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703320" y="2103120"/>
            <a:ext cx="365760" cy="36576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H2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0040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 통합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00400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비밀해제+RAG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통합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32120" y="2103120"/>
            <a:ext cx="365760" cy="36576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H1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 최적화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파이프라인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성능 최적화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60920" y="2103120"/>
            <a:ext cx="365760" cy="365760"/>
          </a:xfrm>
          <a:prstGeom prst="ellipse">
            <a:avLst/>
          </a:prstGeom>
          <a:solidFill>
            <a:srgbClr val="4A6CF7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1280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 H2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1645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4단계 안정화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0" y="26517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안정화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ISMS-P 인증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7680960" cy="731520"/>
          </a:xfrm>
          <a:prstGeom prst="roundRect">
            <a:avLst>
              <a:gd name="adj" fmla="val 12500"/>
            </a:avLst>
          </a:prstGeom>
          <a:solidFill>
            <a:srgbClr val="F5F7F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3931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6C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데모:  https://nara-ai-project.vercel.app   |   GitHub:  github.com/changgi/nara-ai-project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NARA-AI 과제기획서</dc:title>
  <dc:subject>PptxGenJS Presentation</dc:subject>
  <dc:creator>NARA-AI Project Team</dc:creator>
  <cp:lastModifiedBy>NARA-AI Project Team</cp:lastModifiedBy>
  <cp:revision>1</cp:revision>
  <dcterms:created xsi:type="dcterms:W3CDTF">2026-04-04T08:01:02Z</dcterms:created>
  <dcterms:modified xsi:type="dcterms:W3CDTF">2026-04-04T08:01:02Z</dcterms:modified>
</cp:coreProperties>
</file>